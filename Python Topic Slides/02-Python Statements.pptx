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5143500" cx="9144000"/>
  <p:notesSz cx="6858000" cy="9144000"/>
  <p:embeddedFontLst>
    <p:embeddedFont>
      <p:font typeface="Montserrat"/>
      <p:regular r:id="rId33"/>
      <p:bold r:id="rId34"/>
      <p:italic r:id="rId35"/>
      <p:boldItalic r:id="rId36"/>
    </p:embeddedFont>
    <p:embeddedFont>
      <p:font typeface="Overpass"/>
      <p:regular r:id="rId37"/>
      <p:bold r:id="rId38"/>
      <p:italic r:id="rId39"/>
      <p:boldItalic r:id="rId40"/>
    </p:embeddedFont>
    <p:embeddedFont>
      <p:font typeface="Source Code Pr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verpass-boldItalic.fntdata"/><Relationship Id="rId20" Type="http://schemas.openxmlformats.org/officeDocument/2006/relationships/slide" Target="slides/slide16.xml"/><Relationship Id="rId42" Type="http://schemas.openxmlformats.org/officeDocument/2006/relationships/font" Target="fonts/SourceCodePro-bold.fntdata"/><Relationship Id="rId41" Type="http://schemas.openxmlformats.org/officeDocument/2006/relationships/font" Target="fonts/SourceCodePro-regular.fntdata"/><Relationship Id="rId22" Type="http://schemas.openxmlformats.org/officeDocument/2006/relationships/slide" Target="slides/slide18.xml"/><Relationship Id="rId44" Type="http://schemas.openxmlformats.org/officeDocument/2006/relationships/font" Target="fonts/SourceCodePro-boldItalic.fntdata"/><Relationship Id="rId21" Type="http://schemas.openxmlformats.org/officeDocument/2006/relationships/slide" Target="slides/slide17.xml"/><Relationship Id="rId43" Type="http://schemas.openxmlformats.org/officeDocument/2006/relationships/font" Target="fonts/SourceCodePro-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Montserrat-regular.fntdata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Montserrat-italic.fntdata"/><Relationship Id="rId12" Type="http://schemas.openxmlformats.org/officeDocument/2006/relationships/slide" Target="slides/slide8.xml"/><Relationship Id="rId34" Type="http://schemas.openxmlformats.org/officeDocument/2006/relationships/font" Target="fonts/Montserrat-bold.fntdata"/><Relationship Id="rId15" Type="http://schemas.openxmlformats.org/officeDocument/2006/relationships/slide" Target="slides/slide11.xml"/><Relationship Id="rId37" Type="http://schemas.openxmlformats.org/officeDocument/2006/relationships/font" Target="fonts/Overpass-regular.fntdata"/><Relationship Id="rId14" Type="http://schemas.openxmlformats.org/officeDocument/2006/relationships/slide" Target="slides/slide10.xml"/><Relationship Id="rId36" Type="http://schemas.openxmlformats.org/officeDocument/2006/relationships/font" Target="fonts/Montserrat-boldItalic.fntdata"/><Relationship Id="rId17" Type="http://schemas.openxmlformats.org/officeDocument/2006/relationships/slide" Target="slides/slide13.xml"/><Relationship Id="rId39" Type="http://schemas.openxmlformats.org/officeDocument/2006/relationships/font" Target="fonts/Overpass-italic.fntdata"/><Relationship Id="rId16" Type="http://schemas.openxmlformats.org/officeDocument/2006/relationships/slide" Target="slides/slide12.xml"/><Relationship Id="rId38" Type="http://schemas.openxmlformats.org/officeDocument/2006/relationships/font" Target="fonts/Overpass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1e94015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1e94015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e94015f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1e94015f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2bcd33a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2bcd33a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e94015f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1e94015f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e94015f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1e94015f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1e94015f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1e94015f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1e94015f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1e94015f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e94015f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1e94015f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e94015f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1e94015f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e94015f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1e94015f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1e94015fb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1e94015f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e94015fb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1e94015fb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1e94015fb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1e94015f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1e94015fb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1e94015fb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1e94015fb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1e94015f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1e94015fb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1e94015fb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1e94015fb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1e94015fb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1e94015fb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1e94015fb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1e94015fb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1e94015f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1e94015fb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1e94015fb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1e94015fb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1e94015fb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1e94015fb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1e94015fb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1e94015fb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1e94015fb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1e94015fb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1e94015fb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1e94015fb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1e94015fb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Statements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If, elif , else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Statements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begin to learn about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control flow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often only want certain code to execute when a particular condition has been met.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my dog is hungry (some condition), then I will feed the dog (some action).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control this flow of logic we use some keywords: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elif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else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Control Flow syntax makes use of colons and indentation (whitespace).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indentation system is crucial to Python and is what sets it apart from other programming languages.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statement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some_condition: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 execute some code</a:t>
            </a:r>
            <a:endParaRPr b="1" sz="2900">
              <a:solidFill>
                <a:srgbClr val="6FA8DC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if/else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statement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some_condition: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 execute some code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else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 do something else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if/else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statement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some_condition: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 execute some code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elif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some_other_condition: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 do something different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else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 do something else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explore these concepts!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" name="Google Shape;118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For Loops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5" name="Google Shape;125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6" name="Google Shape;126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Many objects in Python are “iterable”, meaning we can iterate over every element in the object.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Such as every element in a list or every character in a string.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for loops to execute a block of code for every iteration.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3" name="Google Shape;133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4" name="Google Shape;134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term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iterable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means you can “iterate” over the object.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 you can iterate over every character in a string, iterate over every item in a list, iterate over every key in a dictionary.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1" name="Google Shape;141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" name="Google Shape;142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 for loop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 = [1,2,3]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for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 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in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 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print(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)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1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2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49" name="Google Shape;149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0" name="Google Shape;150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 for loop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 = [1,2,3]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f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or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 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in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 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print(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)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1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2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57" name="Google Shape;157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8" name="Google Shape;158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6"/>
          <p:cNvSpPr/>
          <p:nvPr/>
        </p:nvSpPr>
        <p:spPr>
          <a:xfrm>
            <a:off x="1653800" y="1785900"/>
            <a:ext cx="3948600" cy="62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 for loop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 = [1,2,3]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f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or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 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in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 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print(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)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1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2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66" name="Google Shape;166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7" name="Google Shape;167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7"/>
          <p:cNvSpPr/>
          <p:nvPr/>
        </p:nvSpPr>
        <p:spPr>
          <a:xfrm>
            <a:off x="2328800" y="2373150"/>
            <a:ext cx="2031900" cy="485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 for loop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 = [1,2,3]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for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 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in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 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print(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)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1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2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75" name="Google Shape;175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6" name="Google Shape;176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8"/>
          <p:cNvSpPr/>
          <p:nvPr/>
        </p:nvSpPr>
        <p:spPr>
          <a:xfrm>
            <a:off x="4362750" y="2359650"/>
            <a:ext cx="418500" cy="485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 for loop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 = [1,2,3]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for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 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in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 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print(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)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1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2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84" name="Google Shape;184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5" name="Google Shape;185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9"/>
          <p:cNvSpPr/>
          <p:nvPr/>
        </p:nvSpPr>
        <p:spPr>
          <a:xfrm>
            <a:off x="4828500" y="2373150"/>
            <a:ext cx="2063400" cy="485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 for loop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 = [1,2,3]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for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 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in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 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print(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)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1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2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93" name="Google Shape;193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4" name="Google Shape;194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0"/>
          <p:cNvSpPr/>
          <p:nvPr/>
        </p:nvSpPr>
        <p:spPr>
          <a:xfrm>
            <a:off x="2175750" y="2845650"/>
            <a:ext cx="3258000" cy="485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explore these concepts!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1" name="Google Shape;201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2" name="Google Shape;202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Loops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8" name="Google Shape;208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9" name="Google Shape;209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loops will continue to execute a block of code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some condition remains True.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 pool is not full, keep filling my pool with water.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 dogs are still hungry, keep feeding my dogs.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6" name="Google Shape;216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7" name="Google Shape;217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 while loop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while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some_boolean_condition: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#do something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224" name="Google Shape;224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5" name="Google Shape;225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combine with an else if you want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while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some_boolean_condition: 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#do something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else:</a:t>
            </a:r>
            <a:endParaRPr b="1" sz="3000">
              <a:solidFill>
                <a:srgbClr val="274E13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#do something different</a:t>
            </a:r>
            <a:endParaRPr b="1" sz="3000">
              <a:solidFill>
                <a:srgbClr val="274E13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232" name="Google Shape;232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3" name="Google Shape;233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explore these concepts!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9" name="Google Shape;239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0" name="Google Shape;240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Useful Operators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6" name="Google Shape;246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7" name="Google Shape;247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List Comprehensions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3" name="Google Shape;253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4" name="Google Shape;254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3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 Comprehensions are a unique way of quickly creating a list with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you find yourself using a for loop along with .append() to create a list, List Comprehensions are a good alternative!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do this, let’s go to a Jupyter Notebook!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1" name="Google Shape;261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2" name="Google Shape;262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0"/>
          <p:cNvSpPr txBox="1"/>
          <p:nvPr>
            <p:ph type="ctrTitle"/>
          </p:nvPr>
        </p:nvSpPr>
        <p:spPr>
          <a:xfrm>
            <a:off x="311700" y="2031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Statements Test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8" name="Google Shape;268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9" name="Google Shape;269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